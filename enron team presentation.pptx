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05" d="100"/>
          <a:sy n="105" d="100"/>
        </p:scale>
        <p:origin x="18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918B-520E-1349-ADAA-ED656AB9D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A0C467-C160-C577-2CC5-B396EF0B1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B63D4-B944-D6C2-DE36-8DEB5894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5126-240A-7749-B168-47AB0353E183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A3088-3DFA-C256-F998-27AD89081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6214D-F039-D1BA-A47A-DAF80C759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71EB-AF14-DA46-92D1-66AB6CBA31F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77383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AEE24-DE14-ABC8-015F-731D7201E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75627-8C8D-6180-90BD-F7B80AF90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A3234-7603-41E7-FE9B-B374A38CB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5126-240A-7749-B168-47AB0353E183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7E733-320C-0862-BADD-8CAE27942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E42A7-19C9-F118-F819-A85884661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71EB-AF14-DA46-92D1-66AB6CBA31F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34406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39805-6950-BCB3-7EBD-9CD1D1694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51AD1-C2A4-396F-CEFE-164206041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D0137-E6DD-F5B4-DA1D-80E5B0C80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5126-240A-7749-B168-47AB0353E183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7D686-4096-B685-7685-A640B2C0B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C91BE-C94D-E6B4-AF23-507B4DEBF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71EB-AF14-DA46-92D1-66AB6CBA31F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7414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B6FDB-EC70-7FAD-7CFB-723F37F94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F6A18-20EB-52A3-9509-28600F06A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9F9B4-963E-BC99-BCD5-B02B4D2B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B1A6F-7C94-B085-2189-631267245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5126-240A-7749-B168-47AB0353E183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BCE81-241C-5635-FB97-99B634A5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5AA5F-98FA-FEB3-AA46-41941E4BA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71EB-AF14-DA46-92D1-66AB6CBA31F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54732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B0922-7D46-5CA0-A543-8F2396A4E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87A64-FE90-02AC-285B-FA504B77E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EA2B22-1C8B-F565-4F66-2FD01E08B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790E12-1142-FC11-5893-180D7B89AE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6A6827-B7C1-C2B7-F6E9-AF7FE0BEA6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BA88AD-9E21-F920-BDBB-91F4C4458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5126-240A-7749-B168-47AB0353E183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D0DAD3-8FB5-8687-D743-6893D1C1B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8F4C8-2663-767C-49CB-A4F2D49E5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71EB-AF14-DA46-92D1-66AB6CBA31F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48038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FC800-4829-7B1A-1E01-302E3F23F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D73A28-CE78-4262-2923-6A7AFB5CE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5126-240A-7749-B168-47AB0353E183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4E0F84-487E-FDD0-EE2D-253A19AC1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DA514-9A9C-F1D2-71C1-30D391189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71EB-AF14-DA46-92D1-66AB6CBA31F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14222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AD06CA-5640-FAB6-24DF-C673BAEAB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5126-240A-7749-B168-47AB0353E183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20D30-BB09-F0F8-759F-06E47A53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B6B44-0046-D6AC-ACD7-6A01E82CC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71EB-AF14-DA46-92D1-66AB6CBA31F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1823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84016-4B4E-255C-5262-BDCD97A32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9DBAF-4313-A46B-DB72-BF739AABB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EB2D8-1FD7-6D3A-4FD9-966801422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54285-E815-A93B-B312-0800E753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5126-240A-7749-B168-47AB0353E183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00BE7-0F16-5BF6-ABD2-64ED049B3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67913-91D9-CB8C-D667-A0DB3898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71EB-AF14-DA46-92D1-66AB6CBA31F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89232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6596-1A9E-BB64-DF4A-3894F972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AE9C9D-2137-B0B7-BEE1-3B52517D48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340E4-3CC4-C0F5-9AA1-49DB09D60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B706D-B930-5697-B21F-31F43A1BF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5126-240A-7749-B168-47AB0353E183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BD1FF-BAC5-C335-B226-6617939DB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C3496-7323-528B-CC82-EEF5D8C08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71EB-AF14-DA46-92D1-66AB6CBA31F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09095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C90CB-2B7C-E648-95CE-2076891DF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B3DC3-41C6-E437-5794-18EAB0333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C14AF-9527-C07F-243E-4AFE00B83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5126-240A-7749-B168-47AB0353E183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7C336-3DF9-21B1-CCFF-4D8C27F35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A752F-9076-261F-D8C0-8E00FF99B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71EB-AF14-DA46-92D1-66AB6CBA31F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47410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B07149-A91F-260F-B062-E3FC90DD4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7F6B2-AAC8-EDF1-1C92-9E7165D8F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86DFB-0A3E-76C5-8CF8-39C8B459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B5126-240A-7749-B168-47AB0353E183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92972-E1C1-76B5-165F-B3AF93DD7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E97EE-4D8A-2DB9-0016-194FA6365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271EB-AF14-DA46-92D1-66AB6CBA31F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41655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F82E32-1519-B4FF-B212-95D7B6A23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6CDCD-4580-71B9-2FFB-AFF149247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95D8A-986F-F4D2-58F7-D6EA90C23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B5126-240A-7749-B168-47AB0353E183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B75A7-275A-2742-81C4-1D89EC678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A05EA-68CD-B636-31CA-EF7D98238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271EB-AF14-DA46-92D1-66AB6CBA31F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05006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06EABD41-097A-B41A-FAC7-7809147F46F0}"/>
              </a:ext>
            </a:extLst>
          </p:cNvPr>
          <p:cNvSpPr txBox="1">
            <a:spLocks/>
          </p:cNvSpPr>
          <p:nvPr/>
        </p:nvSpPr>
        <p:spPr>
          <a:xfrm>
            <a:off x="11451933" y="6431440"/>
            <a:ext cx="380070" cy="184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K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AD7E3C5-9F7F-E940-BBF6-3DD545A3EDBE}" type="slidenum">
              <a:rPr lang="en-DK" smtClean="0"/>
              <a:pPr/>
              <a:t>1</a:t>
            </a:fld>
            <a:endParaRPr lang="en-DK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B939EDD1-4BC6-E55D-5609-A24E8C547F40}"/>
              </a:ext>
            </a:extLst>
          </p:cNvPr>
          <p:cNvSpPr txBox="1">
            <a:spLocks/>
          </p:cNvSpPr>
          <p:nvPr/>
        </p:nvSpPr>
        <p:spPr>
          <a:xfrm>
            <a:off x="360002" y="181438"/>
            <a:ext cx="10398310" cy="783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grpSp>
        <p:nvGrpSpPr>
          <p:cNvPr id="6" name="Gruppe 15">
            <a:extLst>
              <a:ext uri="{FF2B5EF4-FFF2-40B4-BE49-F238E27FC236}">
                <a16:creationId xmlns:a16="http://schemas.microsoft.com/office/drawing/2014/main" id="{FE408B50-C048-352D-2339-557C8B556309}"/>
              </a:ext>
            </a:extLst>
          </p:cNvPr>
          <p:cNvGrpSpPr/>
          <p:nvPr/>
        </p:nvGrpSpPr>
        <p:grpSpPr>
          <a:xfrm>
            <a:off x="359997" y="339731"/>
            <a:ext cx="11472001" cy="746990"/>
            <a:chOff x="407988" y="372456"/>
            <a:chExt cx="3540926" cy="746990"/>
          </a:xfrm>
        </p:grpSpPr>
        <p:cxnSp>
          <p:nvCxnSpPr>
            <p:cNvPr id="7" name="Straight Connector 14">
              <a:extLst>
                <a:ext uri="{FF2B5EF4-FFF2-40B4-BE49-F238E27FC236}">
                  <a16:creationId xmlns:a16="http://schemas.microsoft.com/office/drawing/2014/main" id="{0FD7EC91-4DA5-2036-9228-EA5E09E8A64D}"/>
                </a:ext>
              </a:extLst>
            </p:cNvPr>
            <p:cNvCxnSpPr>
              <a:cxnSpLocks/>
            </p:cNvCxnSpPr>
            <p:nvPr/>
          </p:nvCxnSpPr>
          <p:spPr>
            <a:xfrm>
              <a:off x="407988" y="1010607"/>
              <a:ext cx="3540926" cy="0"/>
            </a:xfrm>
            <a:prstGeom prst="line">
              <a:avLst/>
            </a:prstGeom>
            <a:ln w="9525"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D509ECB4-416F-87E7-A738-A4B5ACEE89B5}"/>
                </a:ext>
              </a:extLst>
            </p:cNvPr>
            <p:cNvSpPr txBox="1"/>
            <p:nvPr/>
          </p:nvSpPr>
          <p:spPr>
            <a:xfrm>
              <a:off x="407988" y="372456"/>
              <a:ext cx="3540926" cy="746990"/>
            </a:xfrm>
            <a:prstGeom prst="rect">
              <a:avLst/>
            </a:prstGeom>
            <a:noFill/>
          </p:spPr>
          <p:txBody>
            <a:bodyPr wrap="square" lIns="0" tIns="0" rIns="0" bIns="25200" rtlCol="0" anchor="ctr">
              <a:spAutoFit/>
            </a:bodyPr>
            <a:lstStyle/>
            <a:p>
              <a:pPr>
                <a:lnSpc>
                  <a:spcPct val="85000"/>
                </a:lnSpc>
                <a:spcAft>
                  <a:spcPts val="408"/>
                </a:spcAft>
                <a:buClr>
                  <a:schemeClr val="accent2"/>
                </a:buClr>
                <a:buSzPct val="70000"/>
              </a:pPr>
              <a:r>
                <a:rPr lang="en-GB" sz="5400" dirty="0">
                  <a:latin typeface="+mj-lt"/>
                  <a:ea typeface="Verdana" panose="020B0604030504040204" pitchFamily="34" charset="0"/>
                  <a:cs typeface="Verdana" panose="020B0604030504040204" pitchFamily="34" charset="0"/>
                </a:rPr>
                <a:t>Model architecture 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34B8933-8E3F-4AF3-691B-FC305B43B60F}"/>
              </a:ext>
            </a:extLst>
          </p:cNvPr>
          <p:cNvSpPr txBox="1"/>
          <p:nvPr/>
        </p:nvSpPr>
        <p:spPr>
          <a:xfrm>
            <a:off x="359997" y="1166842"/>
            <a:ext cx="114720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Hybrid Forecasting Strategy</a:t>
            </a:r>
          </a:p>
          <a:p>
            <a:r>
              <a:rPr lang="en-GB" dirty="0"/>
              <a:t>Objective: build a robust forecasting pipeline across markets and market regimes.</a:t>
            </a:r>
          </a:p>
          <a:p>
            <a:endParaRPr lang="en-GB" dirty="0"/>
          </a:p>
          <a:p>
            <a:r>
              <a:rPr lang="en-GB" dirty="0"/>
              <a:t>We used an ensemble approach, with strict walk-forward CV for each model: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2 Regime blend models:</a:t>
            </a:r>
          </a:p>
          <a:p>
            <a:pPr marL="1257300" lvl="2" indent="-342900">
              <a:buFont typeface="+mj-lt"/>
              <a:buAutoNum type="alphaUcPeriod"/>
            </a:pPr>
            <a:r>
              <a:rPr lang="en-GB" dirty="0" err="1"/>
              <a:t>XGBoost</a:t>
            </a:r>
            <a:r>
              <a:rPr lang="en-GB" dirty="0"/>
              <a:t> model, with cross market features, weights: peak=0.9, transition=0.4, normal=0.2, </a:t>
            </a:r>
            <a:r>
              <a:rPr lang="en-GB" dirty="0" err="1"/>
              <a:t>lowprice</a:t>
            </a:r>
            <a:r>
              <a:rPr lang="en-GB" dirty="0"/>
              <a:t>=0.2</a:t>
            </a:r>
          </a:p>
          <a:p>
            <a:pPr marL="1257300" lvl="2" indent="-342900">
              <a:buFont typeface="+mj-lt"/>
              <a:buAutoNum type="alphaUcPeriod" startAt="2"/>
            </a:pPr>
            <a:r>
              <a:rPr lang="en-GB" dirty="0"/>
              <a:t>Same framework, no cross market features</a:t>
            </a:r>
            <a:br>
              <a:rPr lang="en-GB" dirty="0"/>
            </a:br>
            <a:r>
              <a:rPr lang="en-GB" dirty="0"/>
              <a:t>weights: peak=0.9, transition=0.4, normal=0.2, </a:t>
            </a:r>
            <a:r>
              <a:rPr lang="en-GB" dirty="0" err="1"/>
              <a:t>lowprice</a:t>
            </a:r>
            <a:r>
              <a:rPr lang="en-GB" dirty="0"/>
              <a:t>=0.0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2 Global + local market models:</a:t>
            </a:r>
          </a:p>
          <a:p>
            <a:pPr marL="1257300" lvl="2" indent="-342900">
              <a:buFont typeface="+mj-lt"/>
              <a:buAutoNum type="alphaUcPeriod" startAt="3"/>
            </a:pPr>
            <a:r>
              <a:rPr lang="en-GB" dirty="0" err="1"/>
              <a:t>CatBoost</a:t>
            </a:r>
            <a:r>
              <a:rPr lang="en-GB" dirty="0"/>
              <a:t> model – where local models learn residuals of global model</a:t>
            </a:r>
          </a:p>
          <a:p>
            <a:pPr marL="1257300" lvl="2" indent="-342900">
              <a:buFont typeface="+mj-lt"/>
              <a:buAutoNum type="alphaUcPeriod" startAt="4"/>
            </a:pPr>
            <a:r>
              <a:rPr lang="en-GB" dirty="0"/>
              <a:t>Ensemble model using: </a:t>
            </a:r>
            <a:r>
              <a:rPr lang="en-GB" dirty="0" err="1"/>
              <a:t>CatBoost</a:t>
            </a:r>
            <a:r>
              <a:rPr lang="en-GB" dirty="0"/>
              <a:t> + </a:t>
            </a:r>
            <a:r>
              <a:rPr lang="en-GB" dirty="0" err="1"/>
              <a:t>LightGBM</a:t>
            </a:r>
            <a:r>
              <a:rPr lang="en-GB" dirty="0"/>
              <a:t> + </a:t>
            </a:r>
            <a:r>
              <a:rPr lang="en-GB" dirty="0" err="1"/>
              <a:t>XGBoost</a:t>
            </a:r>
            <a:r>
              <a:rPr lang="en-GB" dirty="0"/>
              <a:t> + Ridge + Lasso + RandomForest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1 Weather/physics focused model:</a:t>
            </a:r>
          </a:p>
          <a:p>
            <a:pPr marL="1257300" lvl="2" indent="-342900">
              <a:buFont typeface="+mj-lt"/>
              <a:buAutoNum type="alphaUcPeriod" startAt="5"/>
            </a:pPr>
            <a:r>
              <a:rPr lang="en-GB" dirty="0"/>
              <a:t>Same framework as C &amp; D, but only using weather/physics specific features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Final submission: Weighted ensemble of models using weights: 0.35A + 0.20B + 0.25C + 0.10D + 0.10E</a:t>
            </a:r>
          </a:p>
        </p:txBody>
      </p:sp>
    </p:spTree>
    <p:extLst>
      <p:ext uri="{BB962C8B-B14F-4D97-AF65-F5344CB8AC3E}">
        <p14:creationId xmlns:p14="http://schemas.microsoft.com/office/powerpoint/2010/main" val="2304588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789DA-269C-4AB5-62F1-B2722947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6A059DD9-5D78-E88D-2639-2939A0ED03A9}"/>
              </a:ext>
            </a:extLst>
          </p:cNvPr>
          <p:cNvSpPr txBox="1">
            <a:spLocks/>
          </p:cNvSpPr>
          <p:nvPr/>
        </p:nvSpPr>
        <p:spPr>
          <a:xfrm>
            <a:off x="11451933" y="6431440"/>
            <a:ext cx="380070" cy="184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K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AD7E3C5-9F7F-E940-BBF6-3DD545A3EDBE}" type="slidenum">
              <a:rPr lang="en-DK" smtClean="0"/>
              <a:pPr/>
              <a:t>2</a:t>
            </a:fld>
            <a:endParaRPr lang="en-DK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ADDC7D1-2EA9-7E05-66A4-40C95C94434A}"/>
              </a:ext>
            </a:extLst>
          </p:cNvPr>
          <p:cNvSpPr txBox="1">
            <a:spLocks/>
          </p:cNvSpPr>
          <p:nvPr/>
        </p:nvSpPr>
        <p:spPr>
          <a:xfrm>
            <a:off x="360002" y="181438"/>
            <a:ext cx="10398310" cy="783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grpSp>
        <p:nvGrpSpPr>
          <p:cNvPr id="6" name="Gruppe 15">
            <a:extLst>
              <a:ext uri="{FF2B5EF4-FFF2-40B4-BE49-F238E27FC236}">
                <a16:creationId xmlns:a16="http://schemas.microsoft.com/office/drawing/2014/main" id="{1A52E000-09B7-E6F4-0C68-B7CE1B3A0708}"/>
              </a:ext>
            </a:extLst>
          </p:cNvPr>
          <p:cNvGrpSpPr/>
          <p:nvPr/>
        </p:nvGrpSpPr>
        <p:grpSpPr>
          <a:xfrm>
            <a:off x="359997" y="339731"/>
            <a:ext cx="11472001" cy="746990"/>
            <a:chOff x="407988" y="372456"/>
            <a:chExt cx="3540926" cy="746990"/>
          </a:xfrm>
        </p:grpSpPr>
        <p:cxnSp>
          <p:nvCxnSpPr>
            <p:cNvPr id="7" name="Straight Connector 14">
              <a:extLst>
                <a:ext uri="{FF2B5EF4-FFF2-40B4-BE49-F238E27FC236}">
                  <a16:creationId xmlns:a16="http://schemas.microsoft.com/office/drawing/2014/main" id="{8DF0F7BC-093F-7381-5F0A-7895E5C40F7A}"/>
                </a:ext>
              </a:extLst>
            </p:cNvPr>
            <p:cNvCxnSpPr>
              <a:cxnSpLocks/>
            </p:cNvCxnSpPr>
            <p:nvPr/>
          </p:nvCxnSpPr>
          <p:spPr>
            <a:xfrm>
              <a:off x="407988" y="1010607"/>
              <a:ext cx="3540926" cy="0"/>
            </a:xfrm>
            <a:prstGeom prst="line">
              <a:avLst/>
            </a:prstGeom>
            <a:ln w="9525"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8D1DF6B9-165E-C5A8-0CB1-CB0C80159F6D}"/>
                </a:ext>
              </a:extLst>
            </p:cNvPr>
            <p:cNvSpPr txBox="1"/>
            <p:nvPr/>
          </p:nvSpPr>
          <p:spPr>
            <a:xfrm>
              <a:off x="407988" y="372456"/>
              <a:ext cx="3540926" cy="746990"/>
            </a:xfrm>
            <a:prstGeom prst="rect">
              <a:avLst/>
            </a:prstGeom>
            <a:noFill/>
          </p:spPr>
          <p:txBody>
            <a:bodyPr wrap="square" lIns="0" tIns="0" rIns="0" bIns="25200" rtlCol="0" anchor="ctr">
              <a:spAutoFit/>
            </a:bodyPr>
            <a:lstStyle/>
            <a:p>
              <a:pPr>
                <a:lnSpc>
                  <a:spcPct val="85000"/>
                </a:lnSpc>
                <a:spcAft>
                  <a:spcPts val="408"/>
                </a:spcAft>
                <a:buClr>
                  <a:schemeClr val="accent2"/>
                </a:buClr>
                <a:buSzPct val="70000"/>
              </a:pPr>
              <a:r>
                <a:rPr lang="en-GB" sz="5400" dirty="0">
                  <a:latin typeface="+mj-lt"/>
                  <a:ea typeface="Verdana" panose="020B0604030504040204" pitchFamily="34" charset="0"/>
                  <a:cs typeface="Verdana" panose="020B0604030504040204" pitchFamily="34" charset="0"/>
                </a:rPr>
                <a:t>Performance drivers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35042FC-C064-9AD8-5C7D-1AE769F8AEB2}"/>
              </a:ext>
            </a:extLst>
          </p:cNvPr>
          <p:cNvSpPr txBox="1"/>
          <p:nvPr/>
        </p:nvSpPr>
        <p:spPr>
          <a:xfrm>
            <a:off x="359997" y="1166842"/>
            <a:ext cx="1147200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Architecture change: global + local models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We moved from a single-model setup to a global + per-market local architecture.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 global model captured shared cross-market structure; local models captured market-specific </a:t>
            </a:r>
            <a:r>
              <a:rPr lang="en-GB" dirty="0" err="1"/>
              <a:t>behavior</a:t>
            </a:r>
            <a:r>
              <a:rPr lang="en-GB" dirty="0"/>
              <a:t> and residual patterns.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This reduced systematic bias and improved stability across markets.</a:t>
            </a:r>
          </a:p>
          <a:p>
            <a:r>
              <a:rPr lang="en-GB" b="1" dirty="0"/>
              <a:t>Regime-specific logic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We explicitly </a:t>
            </a:r>
            <a:r>
              <a:rPr lang="en-GB" dirty="0" err="1"/>
              <a:t>modeled</a:t>
            </a:r>
            <a:r>
              <a:rPr lang="en-GB" dirty="0"/>
              <a:t> different regimes: peak, transition, normal, and low-price.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Regime-aware blending improved performance in difficult periods, especially in tails/worst folds.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This gave more robust </a:t>
            </a:r>
            <a:r>
              <a:rPr lang="en-GB" dirty="0" err="1"/>
              <a:t>behavior</a:t>
            </a:r>
            <a:r>
              <a:rPr lang="en-GB" dirty="0"/>
              <a:t> than one uniform prediction rule.</a:t>
            </a:r>
          </a:p>
          <a:p>
            <a:r>
              <a:rPr lang="en-GB" b="1" dirty="0"/>
              <a:t>High-impact features (examples)</a:t>
            </a:r>
            <a:endParaRPr lang="en-GB" dirty="0"/>
          </a:p>
          <a:p>
            <a:pPr lvl="1"/>
            <a:r>
              <a:rPr lang="en-GB" dirty="0"/>
              <a:t>residual_load_roll_mean_24</a:t>
            </a:r>
          </a:p>
          <a:p>
            <a:pPr lvl="1"/>
            <a:r>
              <a:rPr lang="en-GB" dirty="0"/>
              <a:t>wind_forecast_roll_mean_24</a:t>
            </a:r>
          </a:p>
          <a:p>
            <a:br>
              <a:rPr lang="en-GB" dirty="0"/>
            </a:b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6711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83199-3851-4896-0109-C8E117E9F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64739BBE-A777-C0DB-CDEE-B9F9F316A39B}"/>
              </a:ext>
            </a:extLst>
          </p:cNvPr>
          <p:cNvSpPr txBox="1">
            <a:spLocks/>
          </p:cNvSpPr>
          <p:nvPr/>
        </p:nvSpPr>
        <p:spPr>
          <a:xfrm>
            <a:off x="11451933" y="6431440"/>
            <a:ext cx="380070" cy="184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DK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AD7E3C5-9F7F-E940-BBF6-3DD545A3EDBE}" type="slidenum">
              <a:rPr lang="en-DK" smtClean="0"/>
              <a:pPr/>
              <a:t>3</a:t>
            </a:fld>
            <a:endParaRPr lang="en-DK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B0E0565C-9EDC-E4D9-00B3-300DCDAF23C4}"/>
              </a:ext>
            </a:extLst>
          </p:cNvPr>
          <p:cNvSpPr txBox="1">
            <a:spLocks/>
          </p:cNvSpPr>
          <p:nvPr/>
        </p:nvSpPr>
        <p:spPr>
          <a:xfrm>
            <a:off x="360002" y="181438"/>
            <a:ext cx="10398310" cy="783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grpSp>
        <p:nvGrpSpPr>
          <p:cNvPr id="6" name="Gruppe 15">
            <a:extLst>
              <a:ext uri="{FF2B5EF4-FFF2-40B4-BE49-F238E27FC236}">
                <a16:creationId xmlns:a16="http://schemas.microsoft.com/office/drawing/2014/main" id="{2BCAA627-6DF1-B2B9-1704-08E084C6B46E}"/>
              </a:ext>
            </a:extLst>
          </p:cNvPr>
          <p:cNvGrpSpPr/>
          <p:nvPr/>
        </p:nvGrpSpPr>
        <p:grpSpPr>
          <a:xfrm>
            <a:off x="359997" y="325373"/>
            <a:ext cx="11472001" cy="746990"/>
            <a:chOff x="407988" y="358098"/>
            <a:chExt cx="3540926" cy="746990"/>
          </a:xfrm>
        </p:grpSpPr>
        <p:cxnSp>
          <p:nvCxnSpPr>
            <p:cNvPr id="7" name="Straight Connector 14">
              <a:extLst>
                <a:ext uri="{FF2B5EF4-FFF2-40B4-BE49-F238E27FC236}">
                  <a16:creationId xmlns:a16="http://schemas.microsoft.com/office/drawing/2014/main" id="{3EF17EE2-4C8F-D26B-058B-CA1D17ED19BB}"/>
                </a:ext>
              </a:extLst>
            </p:cNvPr>
            <p:cNvCxnSpPr>
              <a:cxnSpLocks/>
            </p:cNvCxnSpPr>
            <p:nvPr/>
          </p:nvCxnSpPr>
          <p:spPr>
            <a:xfrm>
              <a:off x="407988" y="1010607"/>
              <a:ext cx="3540926" cy="0"/>
            </a:xfrm>
            <a:prstGeom prst="line">
              <a:avLst/>
            </a:prstGeom>
            <a:ln w="9525"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8EFFBE64-A8FC-F886-77A1-C64D64D669E6}"/>
                </a:ext>
              </a:extLst>
            </p:cNvPr>
            <p:cNvSpPr txBox="1"/>
            <p:nvPr/>
          </p:nvSpPr>
          <p:spPr>
            <a:xfrm>
              <a:off x="407988" y="358098"/>
              <a:ext cx="3540926" cy="746990"/>
            </a:xfrm>
            <a:prstGeom prst="rect">
              <a:avLst/>
            </a:prstGeom>
            <a:noFill/>
          </p:spPr>
          <p:txBody>
            <a:bodyPr wrap="square" lIns="0" tIns="0" rIns="0" bIns="25200" rtlCol="0" anchor="ctr">
              <a:spAutoFit/>
            </a:bodyPr>
            <a:lstStyle/>
            <a:p>
              <a:pPr>
                <a:lnSpc>
                  <a:spcPct val="85000"/>
                </a:lnSpc>
                <a:spcAft>
                  <a:spcPts val="408"/>
                </a:spcAft>
                <a:buClr>
                  <a:schemeClr val="accent2"/>
                </a:buClr>
                <a:buSzPct val="70000"/>
              </a:pPr>
              <a:r>
                <a:rPr lang="en-GB" sz="5400" dirty="0">
                  <a:latin typeface="+mj-lt"/>
                  <a:ea typeface="Verdana" panose="020B0604030504040204" pitchFamily="34" charset="0"/>
                  <a:cs typeface="Verdana" panose="020B0604030504040204" pitchFamily="34" charset="0"/>
                </a:rPr>
                <a:t>Key takeaways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A83618E-CFCB-797E-B1DF-FBB2E9794491}"/>
              </a:ext>
            </a:extLst>
          </p:cNvPr>
          <p:cNvSpPr txBox="1"/>
          <p:nvPr/>
        </p:nvSpPr>
        <p:spPr>
          <a:xfrm>
            <a:off x="359997" y="1166842"/>
            <a:ext cx="114720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Time-aware walk-forward validation was essential for reliable model ranking.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OOF permutation testing enabled focused feature pruning and delivered the biggest measurable lift.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Hybrid </a:t>
            </a:r>
            <a:r>
              <a:rPr lang="en-GB" dirty="0" err="1"/>
              <a:t>ensembling</a:t>
            </a:r>
            <a:r>
              <a:rPr lang="en-GB" dirty="0"/>
              <a:t> across complementary and non-correlated model tracks produced the strongest and most stable final submission.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What we could have spent more time on:</a:t>
            </a:r>
            <a:br>
              <a:rPr lang="en-GB" dirty="0"/>
            </a:br>
            <a:r>
              <a:rPr lang="en-GB" dirty="0"/>
              <a:t>Permutation testing + better regime detection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We wanted to run OOF permutation tests (single feature, correlated groups, and feature families).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Features would be kept/pruned based on out-of-fold contribution, not in-sample importance.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 general focus on what features work when and where.</a:t>
            </a:r>
          </a:p>
          <a:p>
            <a:br>
              <a:rPr lang="en-GB" dirty="0"/>
            </a:b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232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385</Words>
  <Application>Microsoft Macintosh PowerPoint</Application>
  <PresentationFormat>Widescreen</PresentationFormat>
  <Paragraphs>44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Smidt Bisgaard</dc:creator>
  <cp:lastModifiedBy>Simon Smidt Bisgaard</cp:lastModifiedBy>
  <cp:revision>2</cp:revision>
  <dcterms:created xsi:type="dcterms:W3CDTF">2026-02-26T09:03:57Z</dcterms:created>
  <dcterms:modified xsi:type="dcterms:W3CDTF">2026-02-26T10:35:31Z</dcterms:modified>
</cp:coreProperties>
</file>